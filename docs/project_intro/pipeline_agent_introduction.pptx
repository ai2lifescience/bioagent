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Introduce the core equation: Pipeline Agent = LLM + Harness + Tools. Point out human oversight, the sandbox workspace, and evidence-bearing results.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Use this as the end-to-end operating model: question and data, configuration, execution, then results and reports.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Show the ordinary web UI and then the embedded Website Bridge. The bridge lets a trusted host expose page context and actions to the assistant.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Show the ordinary web UI and then the embedded Website Bridge. The bridge lets a trusted host expose page context and actions to the assistant.</a:t>
            </a:r>
          </a:p>
        </p:txBody>
      </p:sp>
    </p:spTree>
    <p:extLst>
      <p:ext uri="{BB962C8B-B14F-4D97-AF65-F5344CB8AC3E}">
        <p14:creationId xmlns:p14="http://schemas.microsoft.com/office/powerpoint/2010/main" val="3683711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Describe deterministic sequence and genome operations. Emphasize that annotated features and predictions are reported separately.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Explain that public databases are retrieval and evidence sources, while downloaded files can be inspected and visualized inside the session workspace.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Separate data profiling from document evidence extraction. Both produce session-owned artifacts that can feed reports or later turns.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The Knowledge system is a three-step durable workflow: ingest, poll status, then retrieve from the existing collection with citations.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Research is more than search: it combines retrieval, source review, synthesis, report writing, and a follow-up that renders the report for inspection.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Pipelines add planning, approval, execution, polling, output collection, and backend transparency on top of the same agent loop.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Coding support follows the same inspect-edit-test-report discipline as the scientific tools, with bounded scope and transparent changed-file reporting.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600200"/>
            <a:ext cx="5486400" cy="3086100"/>
          </a:xfrm>
        </p:spPr>
      </p:sp>
      <p:sp>
        <p:nvSpPr>
          <p:cNvPr id="3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800600"/>
            <a:ext cx="5486400" cy="3600450"/>
          </a:xfrm>
        </p:spPr>
        <p:txBody>
          <a:bodyPr/>
          <a:lstStyle/>
          <a:p>
            <a:r>
              <a:rPr lang="en-US" dirty="0"/>
              <a:t>Close with reliability: the system refuses harmful pathogen-enhancement assistance and reports uncertainty, blockers, and partial outcomes rather than fabricating success.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/>
          <p:nvPr/>
        </p:nvSpPr>
        <p:spPr>
          <a:xfrm>
            <a:off x="457200" y="342900"/>
            <a:ext cx="3625751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 · SYSTEM ARCHITECTURE</a:t>
            </a:r>
            <a:endParaRPr lang="en-US"/>
          </a:p>
        </p:txBody>
      </p:sp>
      <p:pic>
        <p:nvPicPr>
          <p:cNvPr id="236" name="Presenton Native Imag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19150" y="591946"/>
            <a:ext cx="10572750" cy="5950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/>
          <p:nvPr/>
        </p:nvSpPr>
        <p:spPr>
          <a:xfrm>
            <a:off x="457200" y="342900"/>
            <a:ext cx="2963763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 · FUNCTION MAP</a:t>
            </a:r>
            <a:endParaRPr lang="en-US"/>
          </a:p>
        </p:txBody>
      </p:sp>
      <p:pic>
        <p:nvPicPr>
          <p:cNvPr id="237" name="Presenton Native Image 2"/>
          <p:cNvPicPr/>
          <p:nvPr/>
        </p:nvPicPr>
        <p:blipFill>
          <a:blip r:embed="rId3"/>
          <a:stretch>
            <a:fillRect/>
          </a:stretch>
        </p:blipFill>
        <p:spPr>
          <a:xfrm>
            <a:off x="764834" y="561975"/>
            <a:ext cx="10662332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/>
          <p:nvPr/>
        </p:nvSpPr>
        <p:spPr>
          <a:xfrm>
            <a:off x="457200" y="342900"/>
            <a:ext cx="4218980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18" name="Shape 618"/>
          <p:cNvSpPr/>
          <p:nvPr/>
        </p:nvSpPr>
        <p:spPr>
          <a:xfrm>
            <a:off x="457200" y="604838"/>
            <a:ext cx="4218980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Web UI + Website Bridge</a:t>
            </a:r>
            <a:endParaRPr lang="en-US"/>
          </a:p>
        </p:txBody>
      </p:sp>
      <p:sp>
        <p:nvSpPr>
          <p:cNvPr id="619" name="Shape 619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20" name="Shape 620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03 / 11</a:t>
            </a:r>
            <a:endParaRPr lang="en-US"/>
          </a:p>
        </p:txBody>
      </p:sp>
      <p:sp>
        <p:nvSpPr>
          <p:cNvPr id="621" name="Shape 621"/>
          <p:cNvSpPr/>
          <p:nvPr/>
        </p:nvSpPr>
        <p:spPr>
          <a:xfrm>
            <a:off x="457200" y="1438275"/>
            <a:ext cx="4333875" cy="850106"/>
          </a:xfrm>
          <a:prstGeom prst="roundRect">
            <a:avLst>
              <a:gd name="adj" fmla="val 17927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609600" y="159067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819150" y="1552575"/>
            <a:ext cx="3838575" cy="62150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Chat workspace.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Model selection, turn limits, uploads, conversations, and a session-owned Files panel.</a:t>
            </a:r>
            <a:endParaRPr lang="en-US"/>
          </a:p>
        </p:txBody>
      </p:sp>
      <p:sp>
        <p:nvSpPr>
          <p:cNvPr id="624" name="Shape 624"/>
          <p:cNvSpPr/>
          <p:nvPr/>
        </p:nvSpPr>
        <p:spPr>
          <a:xfrm>
            <a:off x="457200" y="2402681"/>
            <a:ext cx="4333875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609600" y="2555081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6" name="Shape 626"/>
          <p:cNvSpPr/>
          <p:nvPr/>
        </p:nvSpPr>
        <p:spPr>
          <a:xfrm>
            <a:off x="819150" y="2516981"/>
            <a:ext cx="383857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Durable runs.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HTTP run IDs, resumable events, approvals, evidence, and output paths.</a:t>
            </a:r>
            <a:endParaRPr lang="en-US"/>
          </a:p>
        </p:txBody>
      </p:sp>
      <p:sp>
        <p:nvSpPr>
          <p:cNvPr id="627" name="Shape 627"/>
          <p:cNvSpPr/>
          <p:nvPr/>
        </p:nvSpPr>
        <p:spPr>
          <a:xfrm>
            <a:off x="457200" y="3159919"/>
            <a:ext cx="4333875" cy="850106"/>
          </a:xfrm>
          <a:prstGeom prst="roundRect">
            <a:avLst>
              <a:gd name="adj" fmla="val 17927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28" name="Shape 628"/>
          <p:cNvSpPr/>
          <p:nvPr/>
        </p:nvSpPr>
        <p:spPr>
          <a:xfrm>
            <a:off x="609600" y="3312319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9" name="Shape 629"/>
          <p:cNvSpPr/>
          <p:nvPr/>
        </p:nvSpPr>
        <p:spPr>
          <a:xfrm>
            <a:off x="819150" y="3274219"/>
            <a:ext cx="3838575" cy="62150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Bridge contract.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Signed ticket, page context, revision-aware table/figure reads, manuals, exports, and host actions.</a:t>
            </a:r>
            <a:endParaRPr lang="en-US"/>
          </a:p>
        </p:txBody>
      </p:sp>
      <p:sp>
        <p:nvSpPr>
          <p:cNvPr id="630" name="Shape 630"/>
          <p:cNvSpPr/>
          <p:nvPr/>
        </p:nvSpPr>
        <p:spPr>
          <a:xfrm>
            <a:off x="457200" y="4124325"/>
            <a:ext cx="4333875" cy="732234"/>
          </a:xfrm>
          <a:prstGeom prst="roundRect">
            <a:avLst>
              <a:gd name="adj" fmla="val 23415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631" name="Shape 631"/>
          <p:cNvSpPr/>
          <p:nvPr/>
        </p:nvSpPr>
        <p:spPr>
          <a:xfrm>
            <a:off x="457200" y="4124325"/>
            <a:ext cx="4352925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5B4D35"/>
                </a:solidFill>
                <a:latin typeface="Noto Sans"/>
                <a:ea typeface="Noto Sans"/>
              </a:rPr>
              <a:t>Live proof:</a:t>
            </a:r>
            <a:r>
              <a:rPr sz="1275" b="0" i="0">
                <a:solidFill>
                  <a:srgbClr val="5B4D35"/>
                </a:solidFill>
                <a:latin typeface="Noto Sans"/>
                <a:ea typeface="Noto Sans"/>
              </a:rPr>
              <a:t> all → treated changed the revision, table (4 → 2 rows), and figure (6 → 3 values).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7AB5F8-2AE6-43B6-B42F-EBE1ADB01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196" y="1152227"/>
            <a:ext cx="6851330" cy="4015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/>
          <p:nvPr/>
        </p:nvSpPr>
        <p:spPr>
          <a:xfrm>
            <a:off x="457200" y="342900"/>
            <a:ext cx="4218980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18" name="Shape 618"/>
          <p:cNvSpPr/>
          <p:nvPr/>
        </p:nvSpPr>
        <p:spPr>
          <a:xfrm>
            <a:off x="457200" y="604838"/>
            <a:ext cx="4218980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Web UI + Website Bridge</a:t>
            </a:r>
            <a:endParaRPr lang="en-US"/>
          </a:p>
        </p:txBody>
      </p:sp>
      <p:sp>
        <p:nvSpPr>
          <p:cNvPr id="619" name="Shape 619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20" name="Shape 620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03 / 11</a:t>
            </a:r>
            <a:endParaRPr lang="en-US"/>
          </a:p>
        </p:txBody>
      </p:sp>
      <p:sp>
        <p:nvSpPr>
          <p:cNvPr id="621" name="Shape 621"/>
          <p:cNvSpPr/>
          <p:nvPr/>
        </p:nvSpPr>
        <p:spPr>
          <a:xfrm>
            <a:off x="457200" y="1438275"/>
            <a:ext cx="4333875" cy="850106"/>
          </a:xfrm>
          <a:prstGeom prst="roundRect">
            <a:avLst>
              <a:gd name="adj" fmla="val 17927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609600" y="159067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819150" y="1552575"/>
            <a:ext cx="3838575" cy="62150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Chat workspace.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Model selection, turn limits, uploads, conversations, and a session-owned Files panel.</a:t>
            </a:r>
            <a:endParaRPr lang="en-US"/>
          </a:p>
        </p:txBody>
      </p:sp>
      <p:sp>
        <p:nvSpPr>
          <p:cNvPr id="624" name="Shape 624"/>
          <p:cNvSpPr/>
          <p:nvPr/>
        </p:nvSpPr>
        <p:spPr>
          <a:xfrm>
            <a:off x="457200" y="2402681"/>
            <a:ext cx="4333875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25" name="Shape 625"/>
          <p:cNvSpPr/>
          <p:nvPr/>
        </p:nvSpPr>
        <p:spPr>
          <a:xfrm>
            <a:off x="609600" y="2555081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6" name="Shape 626"/>
          <p:cNvSpPr/>
          <p:nvPr/>
        </p:nvSpPr>
        <p:spPr>
          <a:xfrm>
            <a:off x="819150" y="2516981"/>
            <a:ext cx="383857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Durable runs.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HTTP run IDs, resumable events, approvals, evidence, and output paths.</a:t>
            </a:r>
            <a:endParaRPr lang="en-US"/>
          </a:p>
        </p:txBody>
      </p:sp>
      <p:sp>
        <p:nvSpPr>
          <p:cNvPr id="627" name="Shape 627"/>
          <p:cNvSpPr/>
          <p:nvPr/>
        </p:nvSpPr>
        <p:spPr>
          <a:xfrm>
            <a:off x="457200" y="3159919"/>
            <a:ext cx="4333875" cy="850106"/>
          </a:xfrm>
          <a:prstGeom prst="roundRect">
            <a:avLst>
              <a:gd name="adj" fmla="val 17927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28" name="Shape 628"/>
          <p:cNvSpPr/>
          <p:nvPr/>
        </p:nvSpPr>
        <p:spPr>
          <a:xfrm>
            <a:off x="609600" y="3312319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29" name="Shape 629"/>
          <p:cNvSpPr/>
          <p:nvPr/>
        </p:nvSpPr>
        <p:spPr>
          <a:xfrm>
            <a:off x="819150" y="3274219"/>
            <a:ext cx="3838575" cy="62150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Bridge contract.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Signed ticket, page context, revision-aware table/figure reads, manuals, exports, and host actions.</a:t>
            </a:r>
            <a:endParaRPr lang="en-US"/>
          </a:p>
        </p:txBody>
      </p:sp>
      <p:sp>
        <p:nvSpPr>
          <p:cNvPr id="630" name="Shape 630"/>
          <p:cNvSpPr/>
          <p:nvPr/>
        </p:nvSpPr>
        <p:spPr>
          <a:xfrm>
            <a:off x="457200" y="4124325"/>
            <a:ext cx="4333875" cy="732234"/>
          </a:xfrm>
          <a:prstGeom prst="roundRect">
            <a:avLst>
              <a:gd name="adj" fmla="val 23415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631" name="Shape 631"/>
          <p:cNvSpPr/>
          <p:nvPr/>
        </p:nvSpPr>
        <p:spPr>
          <a:xfrm>
            <a:off x="457200" y="4124325"/>
            <a:ext cx="4352925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5B4D35"/>
                </a:solidFill>
                <a:latin typeface="Noto Sans"/>
                <a:ea typeface="Noto Sans"/>
              </a:rPr>
              <a:t>Live proof:</a:t>
            </a:r>
            <a:r>
              <a:rPr sz="1275" b="0" i="0">
                <a:solidFill>
                  <a:srgbClr val="5B4D35"/>
                </a:solidFill>
                <a:latin typeface="Noto Sans"/>
                <a:ea typeface="Noto Sans"/>
              </a:rPr>
              <a:t> all → treated changed the revision, table (4 → 2 rows), and figure (6 → 3 values).</a:t>
            </a:r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DC84BC-494D-5187-CD50-84EDDAA25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886" y="849970"/>
            <a:ext cx="6757568" cy="56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5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632"/>
          <p:cNvSpPr/>
          <p:nvPr/>
        </p:nvSpPr>
        <p:spPr>
          <a:xfrm>
            <a:off x="457200" y="342900"/>
            <a:ext cx="3476030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33" name="Shape 633"/>
          <p:cNvSpPr/>
          <p:nvPr/>
        </p:nvSpPr>
        <p:spPr>
          <a:xfrm>
            <a:off x="457200" y="604838"/>
            <a:ext cx="3476030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Basic bioinformatics</a:t>
            </a:r>
            <a:endParaRPr lang="en-US"/>
          </a:p>
        </p:txBody>
      </p:sp>
      <p:sp>
        <p:nvSpPr>
          <p:cNvPr id="634" name="Shape 634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35" name="Shape 635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04 / 11</a:t>
            </a:r>
            <a:endParaRPr lang="en-US"/>
          </a:p>
        </p:txBody>
      </p:sp>
      <p:sp>
        <p:nvSpPr>
          <p:cNvPr id="636" name="Shape 636"/>
          <p:cNvSpPr/>
          <p:nvPr/>
        </p:nvSpPr>
        <p:spPr>
          <a:xfrm>
            <a:off x="457200" y="1543050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37" name="Shape 637"/>
          <p:cNvSpPr/>
          <p:nvPr/>
        </p:nvSpPr>
        <p:spPr>
          <a:xfrm>
            <a:off x="609600" y="169545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38" name="Shape 638"/>
          <p:cNvSpPr/>
          <p:nvPr/>
        </p:nvSpPr>
        <p:spPr>
          <a:xfrm>
            <a:off x="819150" y="1657350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Sequence length, GC content, base composition, validation, and reverse complement.</a:t>
            </a:r>
            <a:endParaRPr lang="en-US"/>
          </a:p>
        </p:txBody>
      </p:sp>
      <p:sp>
        <p:nvSpPr>
          <p:cNvPr id="639" name="Shape 639"/>
          <p:cNvSpPr/>
          <p:nvPr/>
        </p:nvSpPr>
        <p:spPr>
          <a:xfrm>
            <a:off x="457200" y="2300288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40" name="Shape 640"/>
          <p:cNvSpPr/>
          <p:nvPr/>
        </p:nvSpPr>
        <p:spPr>
          <a:xfrm>
            <a:off x="609600" y="2452688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41" name="Shape 641"/>
          <p:cNvSpPr/>
          <p:nvPr/>
        </p:nvSpPr>
        <p:spPr>
          <a:xfrm>
            <a:off x="819150" y="2414588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ORF discovery on both strands and translation of selected ORFs.</a:t>
            </a:r>
            <a:endParaRPr lang="en-US"/>
          </a:p>
        </p:txBody>
      </p:sp>
      <p:sp>
        <p:nvSpPr>
          <p:cNvPr id="642" name="Shape 642"/>
          <p:cNvSpPr/>
          <p:nvPr/>
        </p:nvSpPr>
        <p:spPr>
          <a:xfrm>
            <a:off x="457200" y="3057525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43" name="Shape 643"/>
          <p:cNvSpPr/>
          <p:nvPr/>
        </p:nvSpPr>
        <p:spPr>
          <a:xfrm>
            <a:off x="609600" y="320992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44" name="Shape 644"/>
          <p:cNvSpPr/>
          <p:nvPr/>
        </p:nvSpPr>
        <p:spPr>
          <a:xfrm>
            <a:off x="819150" y="3171825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FASTA/GenBank feature reading and genome maps with reference and feature JSON.</a:t>
            </a:r>
            <a:endParaRPr lang="en-US"/>
          </a:p>
        </p:txBody>
      </p:sp>
      <p:sp>
        <p:nvSpPr>
          <p:cNvPr id="645" name="Shape 645"/>
          <p:cNvSpPr/>
          <p:nvPr/>
        </p:nvSpPr>
        <p:spPr>
          <a:xfrm>
            <a:off x="457200" y="3814763"/>
            <a:ext cx="4619625" cy="732234"/>
          </a:xfrm>
          <a:prstGeom prst="roundRect">
            <a:avLst>
              <a:gd name="adj" fmla="val 23415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46" name="Shape 646"/>
          <p:cNvSpPr/>
          <p:nvPr/>
        </p:nvSpPr>
        <p:spPr>
          <a:xfrm>
            <a:off x="457200" y="3814763"/>
            <a:ext cx="4638675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Live example: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PhiX174 analysis returned verified statistics, ORF features, and a rendered genome map.</a:t>
            </a:r>
            <a:endParaRPr lang="en-US"/>
          </a:p>
        </p:txBody>
      </p:sp>
      <p:pic>
        <p:nvPicPr>
          <p:cNvPr id="240" name="Presenton Native 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971550"/>
            <a:ext cx="750570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/>
          <p:nvPr/>
        </p:nvSpPr>
        <p:spPr>
          <a:xfrm>
            <a:off x="457200" y="342900"/>
            <a:ext cx="5012829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48" name="Shape 648"/>
          <p:cNvSpPr/>
          <p:nvPr/>
        </p:nvSpPr>
        <p:spPr>
          <a:xfrm>
            <a:off x="457200" y="604838"/>
            <a:ext cx="5012829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Public databases + structures</a:t>
            </a:r>
            <a:endParaRPr lang="en-US"/>
          </a:p>
        </p:txBody>
      </p:sp>
      <p:sp>
        <p:nvSpPr>
          <p:cNvPr id="649" name="Shape 649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50" name="Shape 650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05 / 11</a:t>
            </a:r>
            <a:endParaRPr lang="en-US"/>
          </a:p>
        </p:txBody>
      </p:sp>
      <p:sp>
        <p:nvSpPr>
          <p:cNvPr id="651" name="Shape 651"/>
          <p:cNvSpPr/>
          <p:nvPr/>
        </p:nvSpPr>
        <p:spPr>
          <a:xfrm>
            <a:off x="457200" y="1485900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52" name="Shape 652"/>
          <p:cNvSpPr/>
          <p:nvPr/>
        </p:nvSpPr>
        <p:spPr>
          <a:xfrm>
            <a:off x="609600" y="163830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53" name="Shape 653"/>
          <p:cNvSpPr/>
          <p:nvPr/>
        </p:nvSpPr>
        <p:spPr>
          <a:xfrm>
            <a:off x="819150" y="1600200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NCBI + PubMed: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nucleotide records, literature, and evidence searches.</a:t>
            </a:r>
            <a:endParaRPr lang="en-US"/>
          </a:p>
        </p:txBody>
      </p:sp>
      <p:sp>
        <p:nvSpPr>
          <p:cNvPr id="654" name="Shape 654"/>
          <p:cNvSpPr/>
          <p:nvPr/>
        </p:nvSpPr>
        <p:spPr>
          <a:xfrm>
            <a:off x="457200" y="2243138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55" name="Shape 655"/>
          <p:cNvSpPr/>
          <p:nvPr/>
        </p:nvSpPr>
        <p:spPr>
          <a:xfrm>
            <a:off x="609600" y="2395538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56" name="Shape 656"/>
          <p:cNvSpPr/>
          <p:nvPr/>
        </p:nvSpPr>
        <p:spPr>
          <a:xfrm>
            <a:off x="819150" y="2357438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UniProt, InterPro, KEGG, QuickGO: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proteins, domains, pathways, and annotations.</a:t>
            </a:r>
            <a:endParaRPr lang="en-US"/>
          </a:p>
        </p:txBody>
      </p:sp>
      <p:sp>
        <p:nvSpPr>
          <p:cNvPr id="657" name="Shape 657"/>
          <p:cNvSpPr/>
          <p:nvPr/>
        </p:nvSpPr>
        <p:spPr>
          <a:xfrm>
            <a:off x="457200" y="3000375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58" name="Shape 658"/>
          <p:cNvSpPr/>
          <p:nvPr/>
        </p:nvSpPr>
        <p:spPr>
          <a:xfrm>
            <a:off x="609600" y="315277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59" name="Shape 659"/>
          <p:cNvSpPr/>
          <p:nvPr/>
        </p:nvSpPr>
        <p:spPr>
          <a:xfrm>
            <a:off x="819150" y="3114675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PDB + AlphaFold DB: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experimental and predicted structures downloaded as workspace files.</a:t>
            </a:r>
            <a:endParaRPr lang="en-US"/>
          </a:p>
        </p:txBody>
      </p:sp>
      <p:sp>
        <p:nvSpPr>
          <p:cNvPr id="660" name="Shape 660"/>
          <p:cNvSpPr/>
          <p:nvPr/>
        </p:nvSpPr>
        <p:spPr>
          <a:xfrm>
            <a:off x="457200" y="3757613"/>
            <a:ext cx="4572000" cy="945952"/>
          </a:xfrm>
          <a:prstGeom prst="roundRect">
            <a:avLst>
              <a:gd name="adj" fmla="val 18125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661" name="Shape 661"/>
          <p:cNvSpPr/>
          <p:nvPr/>
        </p:nvSpPr>
        <p:spPr>
          <a:xfrm>
            <a:off x="457200" y="3757613"/>
            <a:ext cx="4591050" cy="945952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5B4D35"/>
                </a:solidFill>
                <a:latin typeface="Noto Sans"/>
                <a:ea typeface="Noto Sans"/>
              </a:rPr>
              <a:t>Evidence output:</a:t>
            </a:r>
            <a:r>
              <a:rPr sz="1275" b="0" i="0">
                <a:solidFill>
                  <a:srgbClr val="5B4D35"/>
                </a:solidFill>
                <a:latin typeface="Noto Sans"/>
                <a:ea typeface="Noto Sans"/>
              </a:rPr>
              <a:t> source identifiers, URLs, paths, chain/residue/atom measurements, and structure summaries.</a:t>
            </a:r>
            <a:endParaRPr lang="en-US"/>
          </a:p>
        </p:txBody>
      </p:sp>
      <p:pic>
        <p:nvPicPr>
          <p:cNvPr id="241" name="Presenton Native 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4629150" y="1009650"/>
            <a:ext cx="4276725" cy="3543300"/>
          </a:xfrm>
          <a:prstGeom prst="rect">
            <a:avLst/>
          </a:prstGeom>
        </p:spPr>
      </p:pic>
      <p:pic>
        <p:nvPicPr>
          <p:cNvPr id="242" name="Presenton Native Image 7"/>
          <p:cNvPicPr/>
          <p:nvPr/>
        </p:nvPicPr>
        <p:blipFill>
          <a:blip r:embed="rId4"/>
          <a:stretch>
            <a:fillRect/>
          </a:stretch>
        </p:blipFill>
        <p:spPr>
          <a:xfrm>
            <a:off x="7991475" y="1009650"/>
            <a:ext cx="4200525" cy="3543300"/>
          </a:xfrm>
          <a:prstGeom prst="rect">
            <a:avLst/>
          </a:prstGeom>
        </p:spPr>
      </p:pic>
      <p:sp>
        <p:nvSpPr>
          <p:cNvPr id="662" name="Shape 662"/>
          <p:cNvSpPr/>
          <p:nvPr/>
        </p:nvSpPr>
        <p:spPr>
          <a:xfrm>
            <a:off x="5162550" y="4057650"/>
            <a:ext cx="6572250" cy="547688"/>
          </a:xfrm>
          <a:prstGeom prst="roundRect">
            <a:avLst>
              <a:gd name="adj" fmla="val 313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63" name="Shape 663"/>
          <p:cNvSpPr/>
          <p:nvPr/>
        </p:nvSpPr>
        <p:spPr>
          <a:xfrm>
            <a:off x="5162550" y="4057650"/>
            <a:ext cx="6591300" cy="547688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ctr">
              <a:lnSpc>
                <a:spcPts val="1913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Retrieval → download → inspect → visualize → cite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/>
          <p:nvPr/>
        </p:nvSpPr>
        <p:spPr>
          <a:xfrm>
            <a:off x="457200" y="342900"/>
            <a:ext cx="4630936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65" name="Shape 665"/>
          <p:cNvSpPr/>
          <p:nvPr/>
        </p:nvSpPr>
        <p:spPr>
          <a:xfrm>
            <a:off x="457200" y="604838"/>
            <a:ext cx="4630936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Data analysis + Documents</a:t>
            </a:r>
            <a:endParaRPr lang="en-US"/>
          </a:p>
        </p:txBody>
      </p:sp>
      <p:sp>
        <p:nvSpPr>
          <p:cNvPr id="666" name="Shape 666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67" name="Shape 667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06 / 11</a:t>
            </a:r>
            <a:endParaRPr lang="en-US"/>
          </a:p>
        </p:txBody>
      </p:sp>
      <p:sp>
        <p:nvSpPr>
          <p:cNvPr id="668" name="Shape 668"/>
          <p:cNvSpPr/>
          <p:nvPr/>
        </p:nvSpPr>
        <p:spPr>
          <a:xfrm>
            <a:off x="457200" y="1504950"/>
            <a:ext cx="4667250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69" name="Shape 669"/>
          <p:cNvSpPr/>
          <p:nvPr/>
        </p:nvSpPr>
        <p:spPr>
          <a:xfrm>
            <a:off x="609600" y="165735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70" name="Shape 670"/>
          <p:cNvSpPr/>
          <p:nvPr/>
        </p:nvSpPr>
        <p:spPr>
          <a:xfrm>
            <a:off x="819150" y="1619250"/>
            <a:ext cx="417195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Data: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inspect CSV, TSV, JSON, Markdown, and text; profile types, missingness, groups, and summaries.</a:t>
            </a:r>
            <a:endParaRPr lang="en-US"/>
          </a:p>
        </p:txBody>
      </p:sp>
      <p:sp>
        <p:nvSpPr>
          <p:cNvPr id="671" name="Shape 671"/>
          <p:cNvSpPr/>
          <p:nvPr/>
        </p:nvSpPr>
        <p:spPr>
          <a:xfrm>
            <a:off x="457200" y="2262188"/>
            <a:ext cx="4667250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72" name="Shape 672"/>
          <p:cNvSpPr/>
          <p:nvPr/>
        </p:nvSpPr>
        <p:spPr>
          <a:xfrm>
            <a:off x="609600" y="2414588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73" name="Shape 673"/>
          <p:cNvSpPr/>
          <p:nvPr/>
        </p:nvSpPr>
        <p:spPr>
          <a:xfrm>
            <a:off x="819150" y="2376488"/>
            <a:ext cx="417195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Analysis: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create plots and grouped output files that remain in the active workspace.</a:t>
            </a:r>
            <a:endParaRPr lang="en-US"/>
          </a:p>
        </p:txBody>
      </p:sp>
      <p:sp>
        <p:nvSpPr>
          <p:cNvPr id="674" name="Shape 674"/>
          <p:cNvSpPr/>
          <p:nvPr/>
        </p:nvSpPr>
        <p:spPr>
          <a:xfrm>
            <a:off x="457200" y="3019425"/>
            <a:ext cx="4667250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75" name="Shape 675"/>
          <p:cNvSpPr/>
          <p:nvPr/>
        </p:nvSpPr>
        <p:spPr>
          <a:xfrm>
            <a:off x="609600" y="317182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76" name="Shape 676"/>
          <p:cNvSpPr/>
          <p:nvPr/>
        </p:nvSpPr>
        <p:spPr>
          <a:xfrm>
            <a:off x="819150" y="3133725"/>
            <a:ext cx="417195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Documents: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read selectable-text PDFs with page markers, methods, findings, and limitations.</a:t>
            </a:r>
            <a:endParaRPr lang="en-US"/>
          </a:p>
        </p:txBody>
      </p:sp>
      <p:sp>
        <p:nvSpPr>
          <p:cNvPr id="677" name="Shape 677"/>
          <p:cNvSpPr/>
          <p:nvPr/>
        </p:nvSpPr>
        <p:spPr>
          <a:xfrm>
            <a:off x="457200" y="3776663"/>
            <a:ext cx="4667250" cy="642938"/>
          </a:xfrm>
          <a:prstGeom prst="roundRect">
            <a:avLst>
              <a:gd name="adj" fmla="val 23704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678" name="Shape 678"/>
          <p:cNvSpPr/>
          <p:nvPr/>
        </p:nvSpPr>
        <p:spPr>
          <a:xfrm>
            <a:off x="609600" y="3929063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79" name="Shape 679"/>
          <p:cNvSpPr/>
          <p:nvPr/>
        </p:nvSpPr>
        <p:spPr>
          <a:xfrm>
            <a:off x="819150" y="3890963"/>
            <a:ext cx="417195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Handoff: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keep uploads, generated files, manifests, and reports together for later turns.</a:t>
            </a:r>
            <a:endParaRPr lang="en-US"/>
          </a:p>
        </p:txBody>
      </p:sp>
      <p:pic>
        <p:nvPicPr>
          <p:cNvPr id="243" name="Presenton Native Image 8"/>
          <p:cNvPicPr/>
          <p:nvPr/>
        </p:nvPicPr>
        <p:blipFill>
          <a:blip r:embed="rId3"/>
          <a:stretch>
            <a:fillRect/>
          </a:stretch>
        </p:blipFill>
        <p:spPr>
          <a:xfrm>
            <a:off x="4629150" y="1009650"/>
            <a:ext cx="4276725" cy="5314950"/>
          </a:xfrm>
          <a:prstGeom prst="rect">
            <a:avLst/>
          </a:prstGeom>
        </p:spPr>
      </p:pic>
      <p:pic>
        <p:nvPicPr>
          <p:cNvPr id="244" name="Presenton Native Image 9"/>
          <p:cNvPicPr/>
          <p:nvPr/>
        </p:nvPicPr>
        <p:blipFill>
          <a:blip r:embed="rId4"/>
          <a:stretch>
            <a:fillRect/>
          </a:stretch>
        </p:blipFill>
        <p:spPr>
          <a:xfrm>
            <a:off x="7991475" y="1009650"/>
            <a:ext cx="4200525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/>
          <p:nvPr/>
        </p:nvSpPr>
        <p:spPr>
          <a:xfrm>
            <a:off x="457200" y="342900"/>
            <a:ext cx="3240584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681" name="Shape 681"/>
          <p:cNvSpPr/>
          <p:nvPr/>
        </p:nvSpPr>
        <p:spPr>
          <a:xfrm>
            <a:off x="457200" y="604838"/>
            <a:ext cx="3240584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Knowledge system</a:t>
            </a:r>
            <a:endParaRPr lang="en-US"/>
          </a:p>
        </p:txBody>
      </p:sp>
      <p:sp>
        <p:nvSpPr>
          <p:cNvPr id="682" name="Shape 682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683" name="Shape 683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07 / 11</a:t>
            </a:r>
            <a:endParaRPr lang="en-US"/>
          </a:p>
        </p:txBody>
      </p:sp>
      <p:sp>
        <p:nvSpPr>
          <p:cNvPr id="684" name="Shape 684"/>
          <p:cNvSpPr/>
          <p:nvPr/>
        </p:nvSpPr>
        <p:spPr>
          <a:xfrm>
            <a:off x="457200" y="1485900"/>
            <a:ext cx="4572000" cy="1024830"/>
          </a:xfrm>
          <a:prstGeom prst="roundRect">
            <a:avLst>
              <a:gd name="adj" fmla="val 18588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685" name="Shape 685"/>
          <p:cNvSpPr/>
          <p:nvPr/>
        </p:nvSpPr>
        <p:spPr>
          <a:xfrm>
            <a:off x="647700" y="1638300"/>
            <a:ext cx="403027" cy="304800"/>
          </a:xfrm>
          <a:prstGeom prst="roundRect">
            <a:avLst>
              <a:gd name="adj" fmla="val 50000"/>
            </a:avLst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686" name="Shape 686"/>
          <p:cNvSpPr/>
          <p:nvPr/>
        </p:nvSpPr>
        <p:spPr>
          <a:xfrm>
            <a:off x="647700" y="1638300"/>
            <a:ext cx="422077" cy="304800"/>
          </a:xfrm>
          <a:prstGeom prst="rect">
            <a:avLst/>
          </a:prstGeom>
          <a:noFill/>
        </p:spPr>
        <p:txBody>
          <a:bodyPr wrap="square" lIns="114300" tIns="38100" rIns="114300" bIns="38100" anchor="t">
            <a:norm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Noto Sans"/>
                <a:ea typeface="Noto Sans"/>
              </a:rPr>
              <a:t>01</a:t>
            </a:r>
            <a:endParaRPr lang="en-US"/>
          </a:p>
        </p:txBody>
      </p:sp>
      <p:sp>
        <p:nvSpPr>
          <p:cNvPr id="687" name="Shape 687"/>
          <p:cNvSpPr/>
          <p:nvPr/>
        </p:nvSpPr>
        <p:spPr>
          <a:xfrm>
            <a:off x="1203127" y="1647825"/>
            <a:ext cx="628948" cy="25717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18395F"/>
                </a:solidFill>
                <a:latin typeface="Noto Sans"/>
                <a:ea typeface="Noto Sans"/>
              </a:rPr>
              <a:t>Ingest</a:t>
            </a:r>
            <a:endParaRPr lang="en-US"/>
          </a:p>
        </p:txBody>
      </p:sp>
      <p:sp>
        <p:nvSpPr>
          <p:cNvPr id="688" name="Shape 688"/>
          <p:cNvSpPr/>
          <p:nvPr/>
        </p:nvSpPr>
        <p:spPr>
          <a:xfrm>
            <a:off x="1203127" y="1962150"/>
            <a:ext cx="3654623" cy="3961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314B68"/>
                </a:solidFill>
                <a:latin typeface="Noto Sans"/>
                <a:ea typeface="Noto Sans"/>
              </a:rPr>
              <a:t>Bounded public crawl with allowlists, page/depth limits, and a collection ID.</a:t>
            </a:r>
            <a:endParaRPr lang="en-US"/>
          </a:p>
        </p:txBody>
      </p:sp>
      <p:sp>
        <p:nvSpPr>
          <p:cNvPr id="689" name="Shape 689"/>
          <p:cNvSpPr/>
          <p:nvPr/>
        </p:nvSpPr>
        <p:spPr>
          <a:xfrm>
            <a:off x="457200" y="2625030"/>
            <a:ext cx="4572000" cy="1024830"/>
          </a:xfrm>
          <a:prstGeom prst="roundRect">
            <a:avLst>
              <a:gd name="adj" fmla="val 18588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690" name="Shape 690"/>
          <p:cNvSpPr/>
          <p:nvPr/>
        </p:nvSpPr>
        <p:spPr>
          <a:xfrm>
            <a:off x="647700" y="2777430"/>
            <a:ext cx="403027" cy="304800"/>
          </a:xfrm>
          <a:prstGeom prst="roundRect">
            <a:avLst>
              <a:gd name="adj" fmla="val 50000"/>
            </a:avLst>
          </a:prstGeom>
          <a:solidFill>
            <a:srgbClr val="3E8E82"/>
          </a:solidFill>
        </p:spPr>
        <p:txBody>
          <a:bodyPr/>
          <a:lstStyle/>
          <a:p>
            <a:endParaRPr/>
          </a:p>
        </p:txBody>
      </p:sp>
      <p:sp>
        <p:nvSpPr>
          <p:cNvPr id="691" name="Shape 691"/>
          <p:cNvSpPr/>
          <p:nvPr/>
        </p:nvSpPr>
        <p:spPr>
          <a:xfrm>
            <a:off x="647700" y="2777430"/>
            <a:ext cx="422077" cy="304800"/>
          </a:xfrm>
          <a:prstGeom prst="rect">
            <a:avLst/>
          </a:prstGeom>
          <a:noFill/>
        </p:spPr>
        <p:txBody>
          <a:bodyPr wrap="square" lIns="114300" tIns="38100" rIns="114300" bIns="38100" anchor="t">
            <a:norm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Noto Sans"/>
                <a:ea typeface="Noto Sans"/>
              </a:rPr>
              <a:t>02</a:t>
            </a:r>
            <a:endParaRPr lang="en-US"/>
          </a:p>
        </p:txBody>
      </p:sp>
      <p:sp>
        <p:nvSpPr>
          <p:cNvPr id="692" name="Shape 692"/>
          <p:cNvSpPr/>
          <p:nvPr/>
        </p:nvSpPr>
        <p:spPr>
          <a:xfrm>
            <a:off x="1203127" y="2786955"/>
            <a:ext cx="624334" cy="25717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18395F"/>
                </a:solidFill>
                <a:latin typeface="Noto Sans"/>
                <a:ea typeface="Noto Sans"/>
              </a:rPr>
              <a:t>Status</a:t>
            </a:r>
            <a:endParaRPr lang="en-US"/>
          </a:p>
        </p:txBody>
      </p:sp>
      <p:sp>
        <p:nvSpPr>
          <p:cNvPr id="693" name="Shape 693"/>
          <p:cNvSpPr/>
          <p:nvPr/>
        </p:nvSpPr>
        <p:spPr>
          <a:xfrm>
            <a:off x="1203127" y="3101280"/>
            <a:ext cx="3654623" cy="3961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314B68"/>
                </a:solidFill>
                <a:latin typeface="Noto Sans"/>
                <a:ea typeface="Noto Sans"/>
              </a:rPr>
              <a:t>Poll the asynchronous job and report fetched, indexed, chunks, skips, and errors.</a:t>
            </a:r>
            <a:endParaRPr lang="en-US"/>
          </a:p>
        </p:txBody>
      </p:sp>
      <p:sp>
        <p:nvSpPr>
          <p:cNvPr id="694" name="Shape 694"/>
          <p:cNvSpPr/>
          <p:nvPr/>
        </p:nvSpPr>
        <p:spPr>
          <a:xfrm>
            <a:off x="457200" y="3764161"/>
            <a:ext cx="4572000" cy="1222921"/>
          </a:xfrm>
          <a:prstGeom prst="roundRect">
            <a:avLst>
              <a:gd name="adj" fmla="val 15577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695" name="Shape 695"/>
          <p:cNvSpPr/>
          <p:nvPr/>
        </p:nvSpPr>
        <p:spPr>
          <a:xfrm>
            <a:off x="647700" y="3916561"/>
            <a:ext cx="403027" cy="304800"/>
          </a:xfrm>
          <a:prstGeom prst="roundRect">
            <a:avLst>
              <a:gd name="adj" fmla="val 50000"/>
            </a:avLst>
          </a:prstGeom>
          <a:solidFill>
            <a:srgbClr val="7957B6"/>
          </a:solidFill>
        </p:spPr>
        <p:txBody>
          <a:bodyPr/>
          <a:lstStyle/>
          <a:p>
            <a:endParaRPr/>
          </a:p>
        </p:txBody>
      </p:sp>
      <p:sp>
        <p:nvSpPr>
          <p:cNvPr id="696" name="Shape 696"/>
          <p:cNvSpPr/>
          <p:nvPr/>
        </p:nvSpPr>
        <p:spPr>
          <a:xfrm>
            <a:off x="647700" y="3916561"/>
            <a:ext cx="422077" cy="304800"/>
          </a:xfrm>
          <a:prstGeom prst="rect">
            <a:avLst/>
          </a:prstGeom>
          <a:noFill/>
        </p:spPr>
        <p:txBody>
          <a:bodyPr wrap="square" lIns="114300" tIns="38100" rIns="114300" bIns="38100" anchor="t">
            <a:normAutofit/>
          </a:bodyPr>
          <a:lstStyle/>
          <a:p>
            <a:pPr algn="l">
              <a:lnSpc>
                <a:spcPts val="1800"/>
              </a:lnSpc>
              <a:buNone/>
            </a:pPr>
            <a:r>
              <a:rPr sz="1200" b="1" i="0">
                <a:solidFill>
                  <a:srgbClr val="FFFFFF"/>
                </a:solidFill>
                <a:latin typeface="Noto Sans"/>
                <a:ea typeface="Noto Sans"/>
              </a:rPr>
              <a:t>03</a:t>
            </a:r>
            <a:endParaRPr lang="en-US"/>
          </a:p>
        </p:txBody>
      </p:sp>
      <p:sp>
        <p:nvSpPr>
          <p:cNvPr id="697" name="Shape 697"/>
          <p:cNvSpPr/>
          <p:nvPr/>
        </p:nvSpPr>
        <p:spPr>
          <a:xfrm>
            <a:off x="1203127" y="3926086"/>
            <a:ext cx="814388" cy="25717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ts val="2250"/>
              </a:lnSpc>
              <a:buNone/>
            </a:pPr>
            <a:r>
              <a:rPr sz="1500" b="1" i="0">
                <a:solidFill>
                  <a:srgbClr val="18395F"/>
                </a:solidFill>
                <a:latin typeface="Noto Sans"/>
                <a:ea typeface="Noto Sans"/>
              </a:rPr>
              <a:t>Retrieve</a:t>
            </a:r>
            <a:endParaRPr lang="en-US"/>
          </a:p>
        </p:txBody>
      </p:sp>
      <p:sp>
        <p:nvSpPr>
          <p:cNvPr id="698" name="Shape 698"/>
          <p:cNvSpPr/>
          <p:nvPr/>
        </p:nvSpPr>
        <p:spPr>
          <a:xfrm>
            <a:off x="1203127" y="4240411"/>
            <a:ext cx="3654623" cy="594271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0" i="0">
                <a:solidFill>
                  <a:srgbClr val="314B68"/>
                </a:solidFill>
                <a:latin typeface="Noto Sans"/>
                <a:ea typeface="Noto Sans"/>
              </a:rPr>
              <a:t>Second-turn question against the existing collection, returning sources, excerpts, and evidence path.</a:t>
            </a:r>
            <a:endParaRPr lang="en-US"/>
          </a:p>
        </p:txBody>
      </p:sp>
      <p:sp>
        <p:nvSpPr>
          <p:cNvPr id="699" name="Shape 699"/>
          <p:cNvSpPr/>
          <p:nvPr/>
        </p:nvSpPr>
        <p:spPr>
          <a:xfrm>
            <a:off x="457200" y="5101382"/>
            <a:ext cx="4572000" cy="732234"/>
          </a:xfrm>
          <a:prstGeom prst="roundRect">
            <a:avLst>
              <a:gd name="adj" fmla="val 23415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00" name="Shape 700"/>
          <p:cNvSpPr/>
          <p:nvPr/>
        </p:nvSpPr>
        <p:spPr>
          <a:xfrm>
            <a:off x="457200" y="5101382"/>
            <a:ext cx="4591050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5B4D35"/>
                </a:solidFill>
                <a:latin typeface="Noto Sans"/>
                <a:ea typeface="Noto Sans"/>
              </a:rPr>
              <a:t>Live proof:</a:t>
            </a:r>
            <a:r>
              <a:rPr sz="1275" b="0" i="0">
                <a:solidFill>
                  <a:srgbClr val="5B4D35"/>
                </a:solidFill>
                <a:latin typeface="Noto Sans"/>
                <a:ea typeface="Noto Sans"/>
              </a:rPr>
              <a:t> UniProt P0A7V8 — 1 page, 59 chunks, then a cited uS4 function/domain query.</a:t>
            </a:r>
            <a:endParaRPr lang="en-US"/>
          </a:p>
        </p:txBody>
      </p:sp>
      <p:pic>
        <p:nvPicPr>
          <p:cNvPr id="245" name="Presenton Native Imag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962025"/>
            <a:ext cx="750570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/>
          <p:nvPr/>
        </p:nvSpPr>
        <p:spPr>
          <a:xfrm>
            <a:off x="457200" y="342900"/>
            <a:ext cx="3577828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702" name="Shape 702"/>
          <p:cNvSpPr/>
          <p:nvPr/>
        </p:nvSpPr>
        <p:spPr>
          <a:xfrm>
            <a:off x="457200" y="604838"/>
            <a:ext cx="3577828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Research + reporting</a:t>
            </a:r>
            <a:endParaRPr lang="en-US"/>
          </a:p>
        </p:txBody>
      </p:sp>
      <p:sp>
        <p:nvSpPr>
          <p:cNvPr id="703" name="Shape 703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704" name="Shape 704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08 / 11</a:t>
            </a:r>
            <a:endParaRPr lang="en-US"/>
          </a:p>
        </p:txBody>
      </p:sp>
      <p:sp>
        <p:nvSpPr>
          <p:cNvPr id="705" name="Shape 705"/>
          <p:cNvSpPr/>
          <p:nvPr/>
        </p:nvSpPr>
        <p:spPr>
          <a:xfrm>
            <a:off x="457200" y="1504950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06" name="Shape 706"/>
          <p:cNvSpPr/>
          <p:nvPr/>
        </p:nvSpPr>
        <p:spPr>
          <a:xfrm>
            <a:off x="609600" y="165735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07" name="Shape 707"/>
          <p:cNvSpPr/>
          <p:nvPr/>
        </p:nvSpPr>
        <p:spPr>
          <a:xfrm>
            <a:off x="819150" y="1619250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Search PubMed and trusted web sources; fetch records and retrieve evidence.</a:t>
            </a:r>
            <a:endParaRPr lang="en-US"/>
          </a:p>
        </p:txBody>
      </p:sp>
      <p:sp>
        <p:nvSpPr>
          <p:cNvPr id="708" name="Shape 708"/>
          <p:cNvSpPr/>
          <p:nvPr/>
        </p:nvSpPr>
        <p:spPr>
          <a:xfrm>
            <a:off x="457200" y="2262188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709" name="Shape 709"/>
          <p:cNvSpPr/>
          <p:nvPr/>
        </p:nvSpPr>
        <p:spPr>
          <a:xfrm>
            <a:off x="609600" y="2414588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10" name="Shape 710"/>
          <p:cNvSpPr/>
          <p:nvPr/>
        </p:nvSpPr>
        <p:spPr>
          <a:xfrm>
            <a:off x="819150" y="2376488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Review study type, results, uncertainty, and limitations before synthesis.</a:t>
            </a:r>
            <a:endParaRPr lang="en-US"/>
          </a:p>
        </p:txBody>
      </p:sp>
      <p:sp>
        <p:nvSpPr>
          <p:cNvPr id="711" name="Shape 711"/>
          <p:cNvSpPr/>
          <p:nvPr/>
        </p:nvSpPr>
        <p:spPr>
          <a:xfrm>
            <a:off x="457200" y="3019425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712" name="Shape 712"/>
          <p:cNvSpPr/>
          <p:nvPr/>
        </p:nvSpPr>
        <p:spPr>
          <a:xfrm>
            <a:off x="609600" y="317182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13" name="Shape 713"/>
          <p:cNvSpPr/>
          <p:nvPr/>
        </p:nvSpPr>
        <p:spPr>
          <a:xfrm>
            <a:off x="819150" y="3133725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Write cited Markdown reports to the workspace with source paths and references.</a:t>
            </a:r>
            <a:endParaRPr lang="en-US"/>
          </a:p>
        </p:txBody>
      </p:sp>
      <p:sp>
        <p:nvSpPr>
          <p:cNvPr id="714" name="Shape 714"/>
          <p:cNvSpPr/>
          <p:nvPr/>
        </p:nvSpPr>
        <p:spPr>
          <a:xfrm>
            <a:off x="457200" y="3776663"/>
            <a:ext cx="4619625" cy="642938"/>
          </a:xfrm>
          <a:prstGeom prst="roundRect">
            <a:avLst>
              <a:gd name="adj" fmla="val 23704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15" name="Shape 715"/>
          <p:cNvSpPr/>
          <p:nvPr/>
        </p:nvSpPr>
        <p:spPr>
          <a:xfrm>
            <a:off x="609600" y="3929063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16" name="Shape 716"/>
          <p:cNvSpPr/>
          <p:nvPr/>
        </p:nvSpPr>
        <p:spPr>
          <a:xfrm>
            <a:off x="819150" y="3890963"/>
            <a:ext cx="4124325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Use a second turn to display title, headings, evidence table, limitations, conclusion, and exact path.</a:t>
            </a:r>
            <a:endParaRPr lang="en-US"/>
          </a:p>
        </p:txBody>
      </p:sp>
      <p:sp>
        <p:nvSpPr>
          <p:cNvPr id="717" name="Shape 717"/>
          <p:cNvSpPr/>
          <p:nvPr/>
        </p:nvSpPr>
        <p:spPr>
          <a:xfrm>
            <a:off x="457200" y="4533900"/>
            <a:ext cx="4619625" cy="732234"/>
          </a:xfrm>
          <a:prstGeom prst="roundRect">
            <a:avLst>
              <a:gd name="adj" fmla="val 23415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18" name="Shape 718"/>
          <p:cNvSpPr/>
          <p:nvPr/>
        </p:nvSpPr>
        <p:spPr>
          <a:xfrm>
            <a:off x="457200" y="4533900"/>
            <a:ext cx="4638675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Live proof: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eight-source phage-therapy report plus full final-display follow-up.</a:t>
            </a:r>
            <a:endParaRPr lang="en-US"/>
          </a:p>
        </p:txBody>
      </p:sp>
      <p:pic>
        <p:nvPicPr>
          <p:cNvPr id="246" name="Presenton Native Imag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1009650"/>
            <a:ext cx="7505700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719"/>
          <p:cNvSpPr/>
          <p:nvPr/>
        </p:nvSpPr>
        <p:spPr>
          <a:xfrm>
            <a:off x="457200" y="342900"/>
            <a:ext cx="4817120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720" name="Shape 720"/>
          <p:cNvSpPr/>
          <p:nvPr/>
        </p:nvSpPr>
        <p:spPr>
          <a:xfrm>
            <a:off x="457200" y="604838"/>
            <a:ext cx="4817120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Pipelines: plan → run → verify</a:t>
            </a:r>
            <a:endParaRPr lang="en-US"/>
          </a:p>
        </p:txBody>
      </p:sp>
      <p:sp>
        <p:nvSpPr>
          <p:cNvPr id="721" name="Shape 721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722" name="Shape 722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09 / 11</a:t>
            </a:r>
            <a:endParaRPr lang="en-US"/>
          </a:p>
        </p:txBody>
      </p:sp>
      <p:sp>
        <p:nvSpPr>
          <p:cNvPr id="723" name="Shape 723"/>
          <p:cNvSpPr/>
          <p:nvPr/>
        </p:nvSpPr>
        <p:spPr>
          <a:xfrm>
            <a:off x="457200" y="1533525"/>
            <a:ext cx="2276475" cy="1042988"/>
          </a:xfrm>
          <a:prstGeom prst="roundRect">
            <a:avLst>
              <a:gd name="adj" fmla="val 16438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24" name="Shape 724"/>
          <p:cNvSpPr/>
          <p:nvPr/>
        </p:nvSpPr>
        <p:spPr>
          <a:xfrm>
            <a:off x="609600" y="1695450"/>
            <a:ext cx="791766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  <a:buNone/>
            </a:pPr>
            <a:r>
              <a:rPr sz="1425" b="1" i="0">
                <a:solidFill>
                  <a:srgbClr val="18395F"/>
                </a:solidFill>
                <a:latin typeface="Noto Sans"/>
                <a:ea typeface="Noto Sans"/>
              </a:rPr>
              <a:t>Discover</a:t>
            </a:r>
            <a:endParaRPr lang="en-US"/>
          </a:p>
        </p:txBody>
      </p:sp>
      <p:sp>
        <p:nvSpPr>
          <p:cNvPr id="725" name="Shape 725"/>
          <p:cNvSpPr/>
          <p:nvPr/>
        </p:nvSpPr>
        <p:spPr>
          <a:xfrm>
            <a:off x="609600" y="1995488"/>
            <a:ext cx="1990725" cy="428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314B68"/>
                </a:solidFill>
                <a:latin typeface="Noto Sans"/>
                <a:ea typeface="Noto Sans"/>
              </a:rPr>
              <a:t>Catalogs, examples, typed inputs</a:t>
            </a:r>
            <a:endParaRPr lang="en-US"/>
          </a:p>
        </p:txBody>
      </p:sp>
      <p:sp>
        <p:nvSpPr>
          <p:cNvPr id="726" name="Shape 726"/>
          <p:cNvSpPr/>
          <p:nvPr/>
        </p:nvSpPr>
        <p:spPr>
          <a:xfrm>
            <a:off x="2847975" y="1533525"/>
            <a:ext cx="2276475" cy="1042988"/>
          </a:xfrm>
          <a:prstGeom prst="roundRect">
            <a:avLst>
              <a:gd name="adj" fmla="val 16438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727" name="Shape 727"/>
          <p:cNvSpPr/>
          <p:nvPr/>
        </p:nvSpPr>
        <p:spPr>
          <a:xfrm>
            <a:off x="3000375" y="1695450"/>
            <a:ext cx="416123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  <a:buNone/>
            </a:pPr>
            <a:r>
              <a:rPr sz="1425" b="1" i="0">
                <a:solidFill>
                  <a:srgbClr val="18395F"/>
                </a:solidFill>
                <a:latin typeface="Noto Sans"/>
                <a:ea typeface="Noto Sans"/>
              </a:rPr>
              <a:t>Plan</a:t>
            </a:r>
            <a:endParaRPr lang="en-US"/>
          </a:p>
        </p:txBody>
      </p:sp>
      <p:sp>
        <p:nvSpPr>
          <p:cNvPr id="728" name="Shape 728"/>
          <p:cNvSpPr/>
          <p:nvPr/>
        </p:nvSpPr>
        <p:spPr>
          <a:xfrm>
            <a:off x="3000375" y="1995488"/>
            <a:ext cx="1990725" cy="428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314B68"/>
                </a:solidFill>
                <a:latin typeface="Noto Sans"/>
                <a:ea typeface="Noto Sans"/>
              </a:rPr>
              <a:t>Cores, memory, timeout, backend</a:t>
            </a:r>
            <a:endParaRPr lang="en-US"/>
          </a:p>
        </p:txBody>
      </p:sp>
      <p:sp>
        <p:nvSpPr>
          <p:cNvPr id="729" name="Shape 729"/>
          <p:cNvSpPr/>
          <p:nvPr/>
        </p:nvSpPr>
        <p:spPr>
          <a:xfrm>
            <a:off x="457200" y="2690813"/>
            <a:ext cx="2276475" cy="1042988"/>
          </a:xfrm>
          <a:prstGeom prst="roundRect">
            <a:avLst>
              <a:gd name="adj" fmla="val 16438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730" name="Shape 730"/>
          <p:cNvSpPr/>
          <p:nvPr/>
        </p:nvSpPr>
        <p:spPr>
          <a:xfrm>
            <a:off x="609600" y="2852738"/>
            <a:ext cx="725835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  <a:buNone/>
            </a:pPr>
            <a:r>
              <a:rPr sz="1425" b="1" i="0">
                <a:solidFill>
                  <a:srgbClr val="18395F"/>
                </a:solidFill>
                <a:latin typeface="Noto Sans"/>
                <a:ea typeface="Noto Sans"/>
              </a:rPr>
              <a:t>Execute</a:t>
            </a:r>
            <a:endParaRPr lang="en-US"/>
          </a:p>
        </p:txBody>
      </p:sp>
      <p:sp>
        <p:nvSpPr>
          <p:cNvPr id="731" name="Shape 731"/>
          <p:cNvSpPr/>
          <p:nvPr/>
        </p:nvSpPr>
        <p:spPr>
          <a:xfrm>
            <a:off x="609600" y="3152775"/>
            <a:ext cx="1990725" cy="428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314B68"/>
                </a:solidFill>
                <a:latin typeface="Noto Sans"/>
                <a:ea typeface="Noto Sans"/>
              </a:rPr>
              <a:t>Approval, submit once, bounded polling</a:t>
            </a:r>
            <a:endParaRPr lang="en-US"/>
          </a:p>
        </p:txBody>
      </p:sp>
      <p:sp>
        <p:nvSpPr>
          <p:cNvPr id="732" name="Shape 732"/>
          <p:cNvSpPr/>
          <p:nvPr/>
        </p:nvSpPr>
        <p:spPr>
          <a:xfrm>
            <a:off x="2847975" y="2690813"/>
            <a:ext cx="2276475" cy="1042988"/>
          </a:xfrm>
          <a:prstGeom prst="roundRect">
            <a:avLst>
              <a:gd name="adj" fmla="val 16438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33" name="Shape 733"/>
          <p:cNvSpPr/>
          <p:nvPr/>
        </p:nvSpPr>
        <p:spPr>
          <a:xfrm>
            <a:off x="3000375" y="2852738"/>
            <a:ext cx="550515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  <a:buNone/>
            </a:pPr>
            <a:r>
              <a:rPr sz="1425" b="1" i="0">
                <a:solidFill>
                  <a:srgbClr val="18395F"/>
                </a:solidFill>
                <a:latin typeface="Noto Sans"/>
                <a:ea typeface="Noto Sans"/>
              </a:rPr>
              <a:t>Verify</a:t>
            </a:r>
            <a:endParaRPr lang="en-US"/>
          </a:p>
        </p:txBody>
      </p:sp>
      <p:sp>
        <p:nvSpPr>
          <p:cNvPr id="734" name="Shape 734"/>
          <p:cNvSpPr/>
          <p:nvPr/>
        </p:nvSpPr>
        <p:spPr>
          <a:xfrm>
            <a:off x="3000375" y="3152775"/>
            <a:ext cx="1990725" cy="428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314B68"/>
                </a:solidFill>
                <a:latin typeface="Noto Sans"/>
                <a:ea typeface="Noto Sans"/>
              </a:rPr>
              <a:t>Outputs, manifests, hashes, blockers</a:t>
            </a:r>
            <a:endParaRPr lang="en-US"/>
          </a:p>
        </p:txBody>
      </p:sp>
      <p:sp>
        <p:nvSpPr>
          <p:cNvPr id="735" name="Presenton Shadow Shape 1"/>
          <p:cNvSpPr/>
          <p:nvPr/>
        </p:nvSpPr>
        <p:spPr>
          <a:xfrm>
            <a:off x="457200" y="3848100"/>
            <a:ext cx="4667250" cy="945952"/>
          </a:xfrm>
          <a:prstGeom prst="roundRect">
            <a:avLst>
              <a:gd name="adj" fmla="val 18125"/>
            </a:avLst>
          </a:prstGeom>
          <a:solidFill>
            <a:srgbClr val="FFFFFF"/>
          </a:solidFill>
          <a:effectLst>
            <a:outerShdw blurRad="209550" dist="76200" dir="5400000" rotWithShape="0">
              <a:srgbClr val="1A406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36" name="Shape 736"/>
          <p:cNvSpPr/>
          <p:nvPr/>
        </p:nvSpPr>
        <p:spPr>
          <a:xfrm>
            <a:off x="457200" y="3848100"/>
            <a:ext cx="4686300" cy="945952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Workflow styles: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Shell · Snakemake · Nextflow · WDL
</a:t>
            </a: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Live backends: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local checks plus remote Cromwell/S3 transport.</a:t>
            </a:r>
            <a:endParaRPr lang="en-US"/>
          </a:p>
        </p:txBody>
      </p:sp>
      <p:pic>
        <p:nvPicPr>
          <p:cNvPr id="247" name="Presenton Native Imag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1009650"/>
            <a:ext cx="7505700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737"/>
          <p:cNvSpPr/>
          <p:nvPr/>
        </p:nvSpPr>
        <p:spPr>
          <a:xfrm>
            <a:off x="457200" y="342900"/>
            <a:ext cx="2661493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738" name="Shape 738"/>
          <p:cNvSpPr/>
          <p:nvPr/>
        </p:nvSpPr>
        <p:spPr>
          <a:xfrm>
            <a:off x="457200" y="604838"/>
            <a:ext cx="2661493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Coding support</a:t>
            </a:r>
            <a:endParaRPr lang="en-US"/>
          </a:p>
        </p:txBody>
      </p:sp>
      <p:sp>
        <p:nvSpPr>
          <p:cNvPr id="739" name="Shape 739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740" name="Shape 740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10 / 11</a:t>
            </a:r>
            <a:endParaRPr lang="en-US"/>
          </a:p>
        </p:txBody>
      </p:sp>
      <p:sp>
        <p:nvSpPr>
          <p:cNvPr id="741" name="Shape 741"/>
          <p:cNvSpPr/>
          <p:nvPr/>
        </p:nvSpPr>
        <p:spPr>
          <a:xfrm>
            <a:off x="457200" y="1543050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42" name="Shape 742"/>
          <p:cNvSpPr/>
          <p:nvPr/>
        </p:nvSpPr>
        <p:spPr>
          <a:xfrm>
            <a:off x="609600" y="169545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43" name="Shape 743"/>
          <p:cNvSpPr/>
          <p:nvPr/>
        </p:nvSpPr>
        <p:spPr>
          <a:xfrm>
            <a:off x="819150" y="1657350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Inspect source files and identify the smallest relevant change.</a:t>
            </a:r>
            <a:endParaRPr lang="en-US"/>
          </a:p>
        </p:txBody>
      </p:sp>
      <p:sp>
        <p:nvSpPr>
          <p:cNvPr id="744" name="Shape 744"/>
          <p:cNvSpPr/>
          <p:nvPr/>
        </p:nvSpPr>
        <p:spPr>
          <a:xfrm>
            <a:off x="457200" y="2300288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745" name="Shape 745"/>
          <p:cNvSpPr/>
          <p:nvPr/>
        </p:nvSpPr>
        <p:spPr>
          <a:xfrm>
            <a:off x="609600" y="2452688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46" name="Shape 746"/>
          <p:cNvSpPr/>
          <p:nvPr/>
        </p:nvSpPr>
        <p:spPr>
          <a:xfrm>
            <a:off x="819150" y="2414588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Edit only within the requested scope and preserve repository conventions.</a:t>
            </a:r>
            <a:endParaRPr lang="en-US"/>
          </a:p>
        </p:txBody>
      </p:sp>
      <p:sp>
        <p:nvSpPr>
          <p:cNvPr id="747" name="Shape 747"/>
          <p:cNvSpPr/>
          <p:nvPr/>
        </p:nvSpPr>
        <p:spPr>
          <a:xfrm>
            <a:off x="457200" y="3057525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748" name="Shape 748"/>
          <p:cNvSpPr/>
          <p:nvPr/>
        </p:nvSpPr>
        <p:spPr>
          <a:xfrm>
            <a:off x="609600" y="3209925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49" name="Shape 749"/>
          <p:cNvSpPr/>
          <p:nvPr/>
        </p:nvSpPr>
        <p:spPr>
          <a:xfrm>
            <a:off x="819150" y="3171825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Run a bounded test or targeted check and report the result.</a:t>
            </a:r>
            <a:endParaRPr lang="en-US"/>
          </a:p>
        </p:txBody>
      </p:sp>
      <p:sp>
        <p:nvSpPr>
          <p:cNvPr id="750" name="Shape 750"/>
          <p:cNvSpPr/>
          <p:nvPr/>
        </p:nvSpPr>
        <p:spPr>
          <a:xfrm>
            <a:off x="457200" y="3814763"/>
            <a:ext cx="4572000" cy="642938"/>
          </a:xfrm>
          <a:prstGeom prst="roundRect">
            <a:avLst>
              <a:gd name="adj" fmla="val 23704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51" name="Shape 751"/>
          <p:cNvSpPr/>
          <p:nvPr/>
        </p:nvSpPr>
        <p:spPr>
          <a:xfrm>
            <a:off x="609600" y="3967163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52" name="Shape 752"/>
          <p:cNvSpPr/>
          <p:nvPr/>
        </p:nvSpPr>
        <p:spPr>
          <a:xfrm>
            <a:off x="819150" y="3929063"/>
            <a:ext cx="40767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Return changed files, generated IDs, outputs, and failures clearly.</a:t>
            </a:r>
            <a:endParaRPr lang="en-US"/>
          </a:p>
        </p:txBody>
      </p:sp>
      <p:sp>
        <p:nvSpPr>
          <p:cNvPr id="753" name="Shape 753"/>
          <p:cNvSpPr/>
          <p:nvPr/>
        </p:nvSpPr>
        <p:spPr>
          <a:xfrm>
            <a:off x="457200" y="4572000"/>
            <a:ext cx="4572000" cy="732234"/>
          </a:xfrm>
          <a:prstGeom prst="roundRect">
            <a:avLst>
              <a:gd name="adj" fmla="val 23415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54" name="Shape 754"/>
          <p:cNvSpPr/>
          <p:nvPr/>
        </p:nvSpPr>
        <p:spPr>
          <a:xfrm>
            <a:off x="457200" y="4572000"/>
            <a:ext cx="4591050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314B68"/>
                </a:solidFill>
                <a:latin typeface="Noto Sans"/>
                <a:ea typeface="Noto Sans"/>
              </a:rPr>
              <a:t>Live proof:</a:t>
            </a: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 code inspection + code test passed in the GPT‑5.6‑Sol run.</a:t>
            </a:r>
            <a:endParaRPr lang="en-US"/>
          </a:p>
        </p:txBody>
      </p:sp>
      <p:pic>
        <p:nvPicPr>
          <p:cNvPr id="248" name="Presenton Native Imag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1009650"/>
            <a:ext cx="7505700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755"/>
          <p:cNvSpPr/>
          <p:nvPr/>
        </p:nvSpPr>
        <p:spPr>
          <a:xfrm>
            <a:off x="457200" y="342900"/>
            <a:ext cx="3750915" cy="1857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234">
                <a:solidFill>
                  <a:srgbClr val="477AAE"/>
                </a:solidFill>
                <a:latin typeface="Noto Sans"/>
                <a:ea typeface="Noto Sans"/>
              </a:rPr>
              <a:t>PIPELINE2AGENT</a:t>
            </a:r>
            <a:endParaRPr lang="en-US"/>
          </a:p>
        </p:txBody>
      </p:sp>
      <p:sp>
        <p:nvSpPr>
          <p:cNvPr id="756" name="Shape 756"/>
          <p:cNvSpPr/>
          <p:nvPr/>
        </p:nvSpPr>
        <p:spPr>
          <a:xfrm>
            <a:off x="457200" y="604838"/>
            <a:ext cx="3750915" cy="4010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ts val="3159"/>
              </a:lnSpc>
              <a:buNone/>
            </a:pPr>
            <a:r>
              <a:rPr sz="2925" b="1" i="0" spc="0">
                <a:solidFill>
                  <a:srgbClr val="18395F"/>
                </a:solidFill>
                <a:latin typeface="Noto Sans"/>
                <a:ea typeface="Noto Sans"/>
              </a:rPr>
              <a:t>Guardrails + reliability</a:t>
            </a:r>
            <a:endParaRPr lang="en-US"/>
          </a:p>
        </p:txBody>
      </p:sp>
      <p:sp>
        <p:nvSpPr>
          <p:cNvPr id="757" name="Shape 757"/>
          <p:cNvSpPr/>
          <p:nvPr/>
        </p:nvSpPr>
        <p:spPr>
          <a:xfrm>
            <a:off x="11002417" y="342900"/>
            <a:ext cx="732383" cy="352425"/>
          </a:xfrm>
          <a:prstGeom prst="roundRect">
            <a:avLst>
              <a:gd name="adj" fmla="val 50000"/>
            </a:avLst>
          </a:prstGeom>
          <a:solidFill>
            <a:srgbClr val="EAF1F8"/>
          </a:solidFill>
        </p:spPr>
        <p:txBody>
          <a:bodyPr/>
          <a:lstStyle/>
          <a:p>
            <a:endParaRPr/>
          </a:p>
        </p:txBody>
      </p:sp>
      <p:sp>
        <p:nvSpPr>
          <p:cNvPr id="758" name="Shape 758"/>
          <p:cNvSpPr/>
          <p:nvPr/>
        </p:nvSpPr>
        <p:spPr>
          <a:xfrm>
            <a:off x="11002417" y="342900"/>
            <a:ext cx="751433" cy="352425"/>
          </a:xfrm>
          <a:prstGeom prst="rect">
            <a:avLst/>
          </a:prstGeom>
          <a:noFill/>
        </p:spPr>
        <p:txBody>
          <a:bodyPr wrap="square" lIns="152400" tIns="76200" rIns="152400" bIns="76200" anchor="t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>
                <a:solidFill>
                  <a:srgbClr val="477AAE"/>
                </a:solidFill>
                <a:latin typeface="Noto Sans"/>
                <a:ea typeface="Noto Sans"/>
              </a:rPr>
              <a:t>11 / 11</a:t>
            </a:r>
            <a:endParaRPr lang="en-US"/>
          </a:p>
        </p:txBody>
      </p:sp>
      <p:sp>
        <p:nvSpPr>
          <p:cNvPr id="759" name="Shape 759"/>
          <p:cNvSpPr/>
          <p:nvPr/>
        </p:nvSpPr>
        <p:spPr>
          <a:xfrm>
            <a:off x="457200" y="1504950"/>
            <a:ext cx="4762500" cy="435769"/>
          </a:xfrm>
          <a:prstGeom prst="roundRect">
            <a:avLst>
              <a:gd name="adj" fmla="val 34973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60" name="Shape 760"/>
          <p:cNvSpPr/>
          <p:nvPr/>
        </p:nvSpPr>
        <p:spPr>
          <a:xfrm>
            <a:off x="609600" y="1657350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61" name="Shape 761"/>
          <p:cNvSpPr/>
          <p:nvPr/>
        </p:nvSpPr>
        <p:spPr>
          <a:xfrm>
            <a:off x="819150" y="1619250"/>
            <a:ext cx="4219426" cy="20716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Refuse actionable requests to increase pathogen harm.</a:t>
            </a:r>
            <a:endParaRPr lang="en-US"/>
          </a:p>
        </p:txBody>
      </p:sp>
      <p:sp>
        <p:nvSpPr>
          <p:cNvPr id="762" name="Shape 762"/>
          <p:cNvSpPr/>
          <p:nvPr/>
        </p:nvSpPr>
        <p:spPr>
          <a:xfrm>
            <a:off x="457200" y="2055019"/>
            <a:ext cx="4762500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63" name="Shape 763"/>
          <p:cNvSpPr/>
          <p:nvPr/>
        </p:nvSpPr>
        <p:spPr>
          <a:xfrm>
            <a:off x="609600" y="2207419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64" name="Shape 764"/>
          <p:cNvSpPr/>
          <p:nvPr/>
        </p:nvSpPr>
        <p:spPr>
          <a:xfrm>
            <a:off x="819150" y="2169319"/>
            <a:ext cx="42672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Validate arguments and enforce domain, page, resource, and turn limits.</a:t>
            </a:r>
            <a:endParaRPr lang="en-US"/>
          </a:p>
        </p:txBody>
      </p:sp>
      <p:sp>
        <p:nvSpPr>
          <p:cNvPr id="765" name="Shape 765"/>
          <p:cNvSpPr/>
          <p:nvPr/>
        </p:nvSpPr>
        <p:spPr>
          <a:xfrm>
            <a:off x="457200" y="2812256"/>
            <a:ext cx="4762500" cy="642938"/>
          </a:xfrm>
          <a:prstGeom prst="roundRect">
            <a:avLst>
              <a:gd name="adj" fmla="val 23704"/>
            </a:avLst>
          </a:prstGeom>
          <a:solidFill>
            <a:srgbClr val="E8F5F0"/>
          </a:solidFill>
        </p:spPr>
        <p:txBody>
          <a:bodyPr/>
          <a:lstStyle/>
          <a:p>
            <a:endParaRPr/>
          </a:p>
        </p:txBody>
      </p:sp>
      <p:sp>
        <p:nvSpPr>
          <p:cNvPr id="766" name="Shape 766"/>
          <p:cNvSpPr/>
          <p:nvPr/>
        </p:nvSpPr>
        <p:spPr>
          <a:xfrm>
            <a:off x="609600" y="2964656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67" name="Shape 767"/>
          <p:cNvSpPr/>
          <p:nvPr/>
        </p:nvSpPr>
        <p:spPr>
          <a:xfrm>
            <a:off x="819150" y="2926556"/>
            <a:ext cx="42672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Scope files and knowledge collections to the active session; use approvals for selected actions.</a:t>
            </a:r>
            <a:endParaRPr lang="en-US"/>
          </a:p>
        </p:txBody>
      </p:sp>
      <p:sp>
        <p:nvSpPr>
          <p:cNvPr id="768" name="Shape 768"/>
          <p:cNvSpPr/>
          <p:nvPr/>
        </p:nvSpPr>
        <p:spPr>
          <a:xfrm>
            <a:off x="457200" y="3569494"/>
            <a:ext cx="4762500" cy="642938"/>
          </a:xfrm>
          <a:prstGeom prst="roundRect">
            <a:avLst>
              <a:gd name="adj" fmla="val 23704"/>
            </a:avLst>
          </a:prstGeom>
          <a:solidFill>
            <a:srgbClr val="F0ECFA"/>
          </a:solidFill>
        </p:spPr>
        <p:txBody>
          <a:bodyPr/>
          <a:lstStyle/>
          <a:p>
            <a:endParaRPr/>
          </a:p>
        </p:txBody>
      </p:sp>
      <p:sp>
        <p:nvSpPr>
          <p:cNvPr id="769" name="Shape 769"/>
          <p:cNvSpPr/>
          <p:nvPr/>
        </p:nvSpPr>
        <p:spPr>
          <a:xfrm>
            <a:off x="609600" y="3721894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70" name="Shape 770"/>
          <p:cNvSpPr/>
          <p:nvPr/>
        </p:nvSpPr>
        <p:spPr>
          <a:xfrm>
            <a:off x="819150" y="3683794"/>
            <a:ext cx="42672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Preserve evidence, citations, paths, logs, status, and hashes.</a:t>
            </a:r>
            <a:endParaRPr lang="en-US"/>
          </a:p>
        </p:txBody>
      </p:sp>
      <p:sp>
        <p:nvSpPr>
          <p:cNvPr id="771" name="Shape 771"/>
          <p:cNvSpPr/>
          <p:nvPr/>
        </p:nvSpPr>
        <p:spPr>
          <a:xfrm>
            <a:off x="457200" y="4326731"/>
            <a:ext cx="4762500" cy="642938"/>
          </a:xfrm>
          <a:prstGeom prst="roundRect">
            <a:avLst>
              <a:gd name="adj" fmla="val 23704"/>
            </a:avLst>
          </a:prstGeom>
          <a:solidFill>
            <a:srgbClr val="EAF2FB"/>
          </a:solidFill>
        </p:spPr>
        <p:txBody>
          <a:bodyPr/>
          <a:lstStyle/>
          <a:p>
            <a:endParaRPr/>
          </a:p>
        </p:txBody>
      </p:sp>
      <p:sp>
        <p:nvSpPr>
          <p:cNvPr id="772" name="Shape 772"/>
          <p:cNvSpPr/>
          <p:nvPr/>
        </p:nvSpPr>
        <p:spPr>
          <a:xfrm>
            <a:off x="609600" y="4479131"/>
            <a:ext cx="95250" cy="95250"/>
          </a:xfrm>
          <a:prstGeom prst="ellipse">
            <a:avLst/>
          </a:prstGeom>
          <a:solidFill>
            <a:srgbClr val="477AAE"/>
          </a:solidFill>
        </p:spPr>
        <p:txBody>
          <a:bodyPr/>
          <a:lstStyle/>
          <a:p>
            <a:endParaRPr/>
          </a:p>
        </p:txBody>
      </p:sp>
      <p:sp>
        <p:nvSpPr>
          <p:cNvPr id="773" name="Shape 773"/>
          <p:cNvSpPr/>
          <p:nvPr/>
        </p:nvSpPr>
        <p:spPr>
          <a:xfrm>
            <a:off x="819150" y="4441031"/>
            <a:ext cx="4267200" cy="4143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32"/>
              </a:lnSpc>
              <a:buNone/>
            </a:pPr>
            <a:r>
              <a:rPr sz="1275" b="0" i="0">
                <a:solidFill>
                  <a:srgbClr val="314B68"/>
                </a:solidFill>
                <a:latin typeface="Noto Sans"/>
                <a:ea typeface="Noto Sans"/>
              </a:rPr>
              <a:t>Distinguish passed, partial, blocked, failed, unavailable, and empty-output outcomes.</a:t>
            </a:r>
            <a:endParaRPr lang="en-US"/>
          </a:p>
        </p:txBody>
      </p:sp>
      <p:sp>
        <p:nvSpPr>
          <p:cNvPr id="774" name="Shape 774"/>
          <p:cNvSpPr/>
          <p:nvPr/>
        </p:nvSpPr>
        <p:spPr>
          <a:xfrm>
            <a:off x="457200" y="5083969"/>
            <a:ext cx="4762500" cy="732234"/>
          </a:xfrm>
          <a:prstGeom prst="roundRect">
            <a:avLst>
              <a:gd name="adj" fmla="val 23415"/>
            </a:avLst>
          </a:prstGeom>
          <a:solidFill>
            <a:srgbClr val="FFF3DF"/>
          </a:solidFill>
        </p:spPr>
        <p:txBody>
          <a:bodyPr/>
          <a:lstStyle/>
          <a:p>
            <a:endParaRPr/>
          </a:p>
        </p:txBody>
      </p:sp>
      <p:sp>
        <p:nvSpPr>
          <p:cNvPr id="775" name="Shape 775"/>
          <p:cNvSpPr/>
          <p:nvPr/>
        </p:nvSpPr>
        <p:spPr>
          <a:xfrm>
            <a:off x="457200" y="5083969"/>
            <a:ext cx="4781550" cy="732234"/>
          </a:xfrm>
          <a:prstGeom prst="rect">
            <a:avLst/>
          </a:prstGeom>
          <a:noFill/>
        </p:spPr>
        <p:txBody>
          <a:bodyPr wrap="square" lIns="190500" tIns="152400" rIns="190500" bIns="152400" anchor="t">
            <a:normAutofit/>
          </a:bodyPr>
          <a:lstStyle/>
          <a:p>
            <a:pPr algn="l">
              <a:lnSpc>
                <a:spcPts val="1683"/>
              </a:lnSpc>
              <a:buNone/>
            </a:pPr>
            <a:r>
              <a:rPr sz="1275" b="1" i="0">
                <a:solidFill>
                  <a:srgbClr val="5B4D35"/>
                </a:solidFill>
                <a:latin typeface="Noto Sans"/>
                <a:ea typeface="Noto Sans"/>
              </a:rPr>
              <a:t>Principle:</a:t>
            </a:r>
            <a:r>
              <a:rPr sz="1275" b="0" i="0">
                <a:solidFill>
                  <a:srgbClr val="5B4D35"/>
                </a:solidFill>
                <a:latin typeface="Noto Sans"/>
                <a:ea typeface="Noto Sans"/>
              </a:rPr>
              <a:t> useful answers with bounded actions and honest uncertainty.</a:t>
            </a:r>
            <a:endParaRPr lang="en-US"/>
          </a:p>
        </p:txBody>
      </p:sp>
      <p:pic>
        <p:nvPicPr>
          <p:cNvPr id="249" name="Presenton Native Imag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4686300" y="1009650"/>
            <a:ext cx="7505700" cy="584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Office PowerPoint</Application>
  <PresentationFormat>宽屏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Noto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Pipeline2Agent system introduction</dc:title>
  <dc:subject>Generated by Presenton export-core</dc:subject>
  <dc:creator>Presenton</dc:creator>
  <cp:lastModifiedBy>Lenovo</cp:lastModifiedBy>
  <cp:revision>1</cp:revision>
  <dcterms:created xsi:type="dcterms:W3CDTF">2026-09-26T14:39:55Z</dcterms:created>
  <dcterms:modified xsi:type="dcterms:W3CDTF">2026-09-26T14:55:49Z</dcterms:modified>
</cp:coreProperties>
</file>